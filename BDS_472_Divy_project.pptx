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</p:sldMasterIdLst>
  <p:notesMasterIdLst>
    <p:notesMasterId r:id="rId14"/>
  </p:notesMasterIdLst>
  <p:sldIdLst>
    <p:sldId id="256" r:id="rId5"/>
    <p:sldId id="258" r:id="rId6"/>
    <p:sldId id="262" r:id="rId7"/>
    <p:sldId id="259" r:id="rId8"/>
    <p:sldId id="263" r:id="rId9"/>
    <p:sldId id="260" r:id="rId10"/>
    <p:sldId id="261" r:id="rId11"/>
    <p:sldId id="264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7"/>
    <p:restoredTop sz="93469"/>
  </p:normalViewPr>
  <p:slideViewPr>
    <p:cSldViewPr snapToGrid="0">
      <p:cViewPr varScale="1">
        <p:scale>
          <a:sx n="73" d="100"/>
          <a:sy n="73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2DF3A-77F8-6B4C-8402-E5FE7BD1B0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773BC-0FE0-9F44-9982-CF2794751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4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773BC-0FE0-9F44-9982-CF2794751E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1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51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4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3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8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3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0D11E-0A12-C251-4C14-6FC7B194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43BB0-4388-78A1-5FBD-EED7065A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81CF4-0CA1-439A-60DF-18CF09DA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5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21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BFCD2-E6E4-39A8-0236-82F670992FE8}"/>
              </a:ext>
            </a:extLst>
          </p:cNvPr>
          <p:cNvSpPr txBox="1"/>
          <p:nvPr/>
        </p:nvSpPr>
        <p:spPr>
          <a:xfrm>
            <a:off x="1526804" y="1662430"/>
            <a:ext cx="80799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Georgia Pro Light" panose="02040302050405020303" pitchFamily="18" charset="0"/>
              </a:rPr>
              <a:t>Predicting Seasonal Flu 		Vaccination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7BF26-D476-4B26-7D66-CA0FA99020FA}"/>
              </a:ext>
            </a:extLst>
          </p:cNvPr>
          <p:cNvSpPr txBox="1"/>
          <p:nvPr/>
        </p:nvSpPr>
        <p:spPr>
          <a:xfrm>
            <a:off x="4933266" y="4180114"/>
            <a:ext cx="1453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Divy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9FC0-3644-F90C-34C4-7969FF325E46}"/>
              </a:ext>
            </a:extLst>
          </p:cNvPr>
          <p:cNvSpPr txBox="1"/>
          <p:nvPr/>
        </p:nvSpPr>
        <p:spPr>
          <a:xfrm>
            <a:off x="4481923" y="3601422"/>
            <a:ext cx="2169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eorgia Pro Light" panose="02040302050405020303" pitchFamily="18" charset="0"/>
              </a:rPr>
              <a:t>BDS 472</a:t>
            </a:r>
          </a:p>
        </p:txBody>
      </p:sp>
    </p:spTree>
    <p:extLst>
      <p:ext uri="{BB962C8B-B14F-4D97-AF65-F5344CB8AC3E}">
        <p14:creationId xmlns:p14="http://schemas.microsoft.com/office/powerpoint/2010/main" val="30863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269AE-B210-2804-41EC-B6D0D27E642A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What is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BBC1D-C499-8C0E-898A-6FE9B9726116}"/>
              </a:ext>
            </a:extLst>
          </p:cNvPr>
          <p:cNvSpPr txBox="1"/>
          <p:nvPr/>
        </p:nvSpPr>
        <p:spPr>
          <a:xfrm>
            <a:off x="1069522" y="1714500"/>
            <a:ext cx="5453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*In Detail: </a:t>
            </a:r>
          </a:p>
          <a:p>
            <a:r>
              <a:rPr lang="en-US" dirty="0">
                <a:latin typeface="Georgia Pro Light" panose="02040302050405020303" pitchFamily="18" charset="0"/>
              </a:rPr>
              <a:t>Machine learning is a branch of Artificial Intelligence that focuses on developing models and algorithms that let computers learn from data without being explicitly programmed for every task.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85FDB-3EDF-705D-ADA6-EEC1E20B9F93}"/>
              </a:ext>
            </a:extLst>
          </p:cNvPr>
          <p:cNvSpPr txBox="1"/>
          <p:nvPr/>
        </p:nvSpPr>
        <p:spPr>
          <a:xfrm>
            <a:off x="1069522" y="3321639"/>
            <a:ext cx="4906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In Summary: </a:t>
            </a:r>
          </a:p>
          <a:p>
            <a:r>
              <a:rPr lang="en-US" i="1" dirty="0">
                <a:latin typeface="Georgia Pro Light" panose="02040302050405020303" pitchFamily="18" charset="0"/>
              </a:rPr>
              <a:t>ML teaches the systems to think and understand like humans by learning from the data</a:t>
            </a:r>
            <a:r>
              <a:rPr lang="en-US" dirty="0">
                <a:latin typeface="Georgia Pro Light" panose="02040302050405020303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2D3C4-DFF1-303C-16A8-656D700A4AA5}"/>
              </a:ext>
            </a:extLst>
          </p:cNvPr>
          <p:cNvSpPr txBox="1"/>
          <p:nvPr/>
        </p:nvSpPr>
        <p:spPr>
          <a:xfrm>
            <a:off x="106135" y="6506936"/>
            <a:ext cx="5148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 Pro Cond Light" panose="02040306050405020303" pitchFamily="18" charset="0"/>
              </a:rPr>
              <a:t>*https://</a:t>
            </a:r>
            <a:r>
              <a:rPr lang="en-US" sz="1200" dirty="0" err="1">
                <a:latin typeface="Georgia Pro Cond Light" panose="02040306050405020303" pitchFamily="18" charset="0"/>
              </a:rPr>
              <a:t>www.geeksforgeeks.org</a:t>
            </a:r>
            <a:r>
              <a:rPr lang="en-US" sz="1200" dirty="0">
                <a:latin typeface="Georgia Pro Cond Light" panose="02040306050405020303" pitchFamily="18" charset="0"/>
              </a:rPr>
              <a:t>/machine-learning/</a:t>
            </a:r>
          </a:p>
        </p:txBody>
      </p:sp>
      <p:pic>
        <p:nvPicPr>
          <p:cNvPr id="1026" name="Picture 2" descr="Illustration stick figure man thinking Stock Vector Images ...">
            <a:extLst>
              <a:ext uri="{FF2B5EF4-FFF2-40B4-BE49-F238E27FC236}">
                <a16:creationId xmlns:a16="http://schemas.microsoft.com/office/drawing/2014/main" id="{4F87728A-A3AF-C51A-5744-FE12D8707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28"/>
          <a:stretch>
            <a:fillRect/>
          </a:stretch>
        </p:blipFill>
        <p:spPr bwMode="auto">
          <a:xfrm flipH="1">
            <a:off x="6622326" y="1714500"/>
            <a:ext cx="657386" cy="253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ervised learning | Engati">
            <a:extLst>
              <a:ext uri="{FF2B5EF4-FFF2-40B4-BE49-F238E27FC236}">
                <a16:creationId xmlns:a16="http://schemas.microsoft.com/office/drawing/2014/main" id="{200492E1-3ECC-07BD-CD9C-1893E7F23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179" y="2042856"/>
            <a:ext cx="3029563" cy="187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51D70D0-ACF4-B0D9-0FEA-12AD4C5D3E12}"/>
              </a:ext>
            </a:extLst>
          </p:cNvPr>
          <p:cNvSpPr/>
          <p:nvPr/>
        </p:nvSpPr>
        <p:spPr>
          <a:xfrm>
            <a:off x="11100674" y="2335824"/>
            <a:ext cx="975393" cy="192797"/>
          </a:xfrm>
          <a:prstGeom prst="rect">
            <a:avLst/>
          </a:prstGeom>
          <a:solidFill>
            <a:srgbClr val="E1E1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Vaccinated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1B0826-1E3F-C1C6-43A9-F90EE37E6053}"/>
              </a:ext>
            </a:extLst>
          </p:cNvPr>
          <p:cNvSpPr/>
          <p:nvPr/>
        </p:nvSpPr>
        <p:spPr>
          <a:xfrm>
            <a:off x="11100674" y="2725190"/>
            <a:ext cx="975393" cy="192797"/>
          </a:xfrm>
          <a:prstGeom prst="rect">
            <a:avLst/>
          </a:prstGeom>
          <a:solidFill>
            <a:srgbClr val="E1E1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Unvaccinated</a:t>
            </a:r>
            <a:endParaRPr lang="en-US" sz="600" dirty="0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8561F62C-BC01-D2E6-952F-62A2283C9787}"/>
              </a:ext>
            </a:extLst>
          </p:cNvPr>
          <p:cNvSpPr/>
          <p:nvPr/>
        </p:nvSpPr>
        <p:spPr>
          <a:xfrm>
            <a:off x="7385229" y="2417560"/>
            <a:ext cx="1002950" cy="1000853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EB4A5C-C364-6B48-BC02-7040AAE9B579}"/>
              </a:ext>
            </a:extLst>
          </p:cNvPr>
          <p:cNvSpPr txBox="1"/>
          <p:nvPr/>
        </p:nvSpPr>
        <p:spPr>
          <a:xfrm>
            <a:off x="9145301" y="4329373"/>
            <a:ext cx="13122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>
                <a:latin typeface="Georgia Pro Light" panose="02040302050405020303" pitchFamily="18" charset="0"/>
              </a:rPr>
              <a:t>www.engati.com</a:t>
            </a:r>
            <a:endParaRPr lang="en-US" sz="600" dirty="0">
              <a:latin typeface="Georgia Pro Light" panose="02040302050405020303" pitchFamily="18" charset="0"/>
            </a:endParaRP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065CBE13-7BEA-1041-4E48-4062676BAC46}"/>
              </a:ext>
            </a:extLst>
          </p:cNvPr>
          <p:cNvSpPr/>
          <p:nvPr/>
        </p:nvSpPr>
        <p:spPr>
          <a:xfrm>
            <a:off x="6523264" y="221253"/>
            <a:ext cx="3072341" cy="1363436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F881C-13A9-6BC6-0155-BDC3F5E77BC5}"/>
              </a:ext>
            </a:extLst>
          </p:cNvPr>
          <p:cNvSpPr txBox="1"/>
          <p:nvPr/>
        </p:nvSpPr>
        <p:spPr>
          <a:xfrm>
            <a:off x="6877540" y="569972"/>
            <a:ext cx="2823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education level is Sesame Street?</a:t>
            </a:r>
          </a:p>
        </p:txBody>
      </p:sp>
    </p:spTree>
    <p:extLst>
      <p:ext uri="{BB962C8B-B14F-4D97-AF65-F5344CB8AC3E}">
        <p14:creationId xmlns:p14="http://schemas.microsoft.com/office/powerpoint/2010/main" val="22213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 animBg="1"/>
      <p:bldP spid="41" grpId="0" animBg="1"/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8B1B2-5FF7-F7A0-79BE-A76AA0E5161F}"/>
              </a:ext>
            </a:extLst>
          </p:cNvPr>
          <p:cNvSpPr txBox="1"/>
          <p:nvPr/>
        </p:nvSpPr>
        <p:spPr>
          <a:xfrm>
            <a:off x="644037" y="753693"/>
            <a:ext cx="4694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eorgia Pro Light" panose="02040302050405020303" pitchFamily="18" charset="0"/>
              </a:rPr>
              <a:t>The </a:t>
            </a:r>
            <a:r>
              <a:rPr lang="en-US" sz="3600" dirty="0">
                <a:latin typeface="Georgia Pro Light" panose="02040302050405020303" pitchFamily="18" charset="0"/>
              </a:rPr>
              <a:t>Project</a:t>
            </a:r>
            <a:r>
              <a:rPr lang="en-US" sz="3200" dirty="0">
                <a:latin typeface="Georgia Pro Light" panose="02040302050405020303" pitchFamily="18" charset="0"/>
              </a:rPr>
              <a:t> And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36773-4DD0-80DB-BBC4-CEF29F7B8357}"/>
              </a:ext>
            </a:extLst>
          </p:cNvPr>
          <p:cNvSpPr txBox="1"/>
          <p:nvPr/>
        </p:nvSpPr>
        <p:spPr>
          <a:xfrm>
            <a:off x="1116639" y="1638102"/>
            <a:ext cx="3717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eorgia Pro Semibold" panose="02040502050405020303" pitchFamily="18" charset="0"/>
              </a:rPr>
              <a:t>The Challenge Question: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F8894-6023-DE82-ED91-1B25CB97F74E}"/>
              </a:ext>
            </a:extLst>
          </p:cNvPr>
          <p:cNvSpPr txBox="1"/>
          <p:nvPr/>
        </p:nvSpPr>
        <p:spPr>
          <a:xfrm>
            <a:off x="1712632" y="2091078"/>
            <a:ext cx="4906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Can we predict an individual Seasonal Vaccine Status based on Survey information about them containing record of demographics, opinions, and behaviors.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4D46D-4754-E21E-0D5A-7BCB1DC8DDBB}"/>
              </a:ext>
            </a:extLst>
          </p:cNvPr>
          <p:cNvSpPr txBox="1"/>
          <p:nvPr/>
        </p:nvSpPr>
        <p:spPr>
          <a:xfrm>
            <a:off x="4357860" y="25122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D8FCA-FCEA-6178-FE06-8D6BD8887542}"/>
              </a:ext>
            </a:extLst>
          </p:cNvPr>
          <p:cNvSpPr txBox="1"/>
          <p:nvPr/>
        </p:nvSpPr>
        <p:spPr>
          <a:xfrm>
            <a:off x="1116639" y="3198167"/>
            <a:ext cx="204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eorgia Pro Semibold" panose="02040502050405020303" pitchFamily="18" charset="0"/>
              </a:rPr>
              <a:t>Dataset</a:t>
            </a:r>
            <a:r>
              <a:rPr lang="en-US" sz="2400" b="1" dirty="0">
                <a:latin typeface="Georgia Pro Semibold" panose="02040502050405020303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7C49C-E053-9158-555E-2337CF2046B6}"/>
              </a:ext>
            </a:extLst>
          </p:cNvPr>
          <p:cNvSpPr txBox="1"/>
          <p:nvPr/>
        </p:nvSpPr>
        <p:spPr>
          <a:xfrm>
            <a:off x="1712632" y="3612493"/>
            <a:ext cx="3300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Number of examples</a:t>
            </a:r>
            <a:r>
              <a:rPr lang="en-US" dirty="0">
                <a:latin typeface="Georgia Pro Light" panose="02040302050405020303" pitchFamily="18" charset="0"/>
              </a:rPr>
              <a:t>: ~26,700 </a:t>
            </a:r>
          </a:p>
          <a:p>
            <a:r>
              <a:rPr lang="en-US" b="1" dirty="0">
                <a:latin typeface="Georgia Pro Light" panose="02040302050405020303" pitchFamily="18" charset="0"/>
              </a:rPr>
              <a:t>Number of features: </a:t>
            </a:r>
            <a:r>
              <a:rPr lang="en-US" dirty="0">
                <a:latin typeface="Georgia Pro Light" panose="02040302050405020303" pitchFamily="18" charset="0"/>
              </a:rPr>
              <a:t>36 </a:t>
            </a:r>
          </a:p>
          <a:p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49708-2DA3-2E87-5402-55959E8A9902}"/>
              </a:ext>
            </a:extLst>
          </p:cNvPr>
          <p:cNvSpPr txBox="1"/>
          <p:nvPr/>
        </p:nvSpPr>
        <p:spPr>
          <a:xfrm>
            <a:off x="1116639" y="4404072"/>
            <a:ext cx="516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Semibold" panose="02040502050405020303" pitchFamily="18" charset="0"/>
              </a:rPr>
              <a:t>Outcome variable: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BBE91-8991-A1FA-D530-4A7913207D29}"/>
              </a:ext>
            </a:extLst>
          </p:cNvPr>
          <p:cNvSpPr txBox="1"/>
          <p:nvPr/>
        </p:nvSpPr>
        <p:spPr>
          <a:xfrm>
            <a:off x="6805484" y="1537081"/>
            <a:ext cx="51649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Semibold" panose="02040502050405020303" pitchFamily="18" charset="0"/>
              </a:rPr>
              <a:t>Interests/ Possible Use:</a:t>
            </a:r>
          </a:p>
          <a:p>
            <a:r>
              <a:rPr lang="en-US" b="1" dirty="0">
                <a:latin typeface="Georgia Pro Light" panose="02040302050405020303" pitchFamily="18" charset="0"/>
              </a:rPr>
              <a:t>	- </a:t>
            </a:r>
            <a:r>
              <a:rPr lang="en-US" dirty="0">
                <a:latin typeface="Georgia Pro Light" panose="02040302050405020303" pitchFamily="18" charset="0"/>
              </a:rPr>
              <a:t>Can be used to advertise to individuals who are likely not to be vaccinated about vaccine awareness. </a:t>
            </a:r>
          </a:p>
          <a:p>
            <a:r>
              <a:rPr lang="en-US" b="1" dirty="0">
                <a:latin typeface="Georgia Pro Light" panose="02040302050405020303" pitchFamily="18" charset="0"/>
              </a:rPr>
              <a:t>	- </a:t>
            </a:r>
            <a:r>
              <a:rPr lang="en-US" dirty="0">
                <a:latin typeface="Georgia Pro Light" panose="02040302050405020303" pitchFamily="18" charset="0"/>
              </a:rPr>
              <a:t>Understand better about the factors(features) that contribute to someone being unvaccinated</a:t>
            </a:r>
            <a:endParaRPr lang="en-US" b="1" dirty="0">
              <a:latin typeface="Georgia Pro Light" panose="02040302050405020303" pitchFamily="18" charset="0"/>
            </a:endParaRPr>
          </a:p>
        </p:txBody>
      </p:sp>
      <p:pic>
        <p:nvPicPr>
          <p:cNvPr id="3074" name="Picture 2" descr="Flu Resources - CPP | National Vaccine Buying Group | Vaccine Group  Purchase Organization">
            <a:extLst>
              <a:ext uri="{FF2B5EF4-FFF2-40B4-BE49-F238E27FC236}">
                <a16:creationId xmlns:a16="http://schemas.microsoft.com/office/drawing/2014/main" id="{322E560E-9BA0-BCF6-2E2E-6B24C6926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26" y="3428999"/>
            <a:ext cx="4542591" cy="255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28A477-8711-EE22-3DC4-EE2590F034A3}"/>
              </a:ext>
            </a:extLst>
          </p:cNvPr>
          <p:cNvSpPr txBox="1"/>
          <p:nvPr/>
        </p:nvSpPr>
        <p:spPr>
          <a:xfrm>
            <a:off x="1712632" y="4819787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Class 1: Seasonal Flu Vaccinated       </a:t>
            </a:r>
            <a:r>
              <a:rPr lang="en-US" dirty="0"/>
              <a:t>[~46.56%]</a:t>
            </a:r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Class 2: Seasonal Flu Unvaccinated  </a:t>
            </a:r>
            <a:r>
              <a:rPr lang="en-US" dirty="0"/>
              <a:t>[~53.44%]</a:t>
            </a:r>
          </a:p>
          <a:p>
            <a:r>
              <a:rPr lang="en-US" dirty="0">
                <a:latin typeface="Georgia Pro Light" panose="02040302050405020303" pitchFamily="18" charset="0"/>
              </a:rPr>
              <a:t>The Other Variable: </a:t>
            </a:r>
          </a:p>
          <a:p>
            <a:r>
              <a:rPr lang="en-US" dirty="0">
                <a:latin typeface="Georgia Pro Light" panose="02040302050405020303" pitchFamily="18" charset="0"/>
              </a:rPr>
              <a:t>Class 1: H1N1 Vaccinated       </a:t>
            </a:r>
            <a:r>
              <a:rPr lang="en-US" dirty="0"/>
              <a:t>[~21.25%]</a:t>
            </a:r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Class 2: H1N1 Unvaccinated  </a:t>
            </a:r>
            <a:r>
              <a:rPr lang="en-US" dirty="0"/>
              <a:t>[~78.75%]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07BD5B-1017-3BEE-D813-E8FEBC61820C}"/>
              </a:ext>
            </a:extLst>
          </p:cNvPr>
          <p:cNvSpPr/>
          <p:nvPr/>
        </p:nvSpPr>
        <p:spPr>
          <a:xfrm>
            <a:off x="1795244" y="4882393"/>
            <a:ext cx="4681057" cy="553673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9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62827-ABC1-F8CD-DB4C-06D21DEB1AA2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Feature Analysis: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BD1D1-1828-5D93-EA08-51F8F9EDA978}"/>
              </a:ext>
            </a:extLst>
          </p:cNvPr>
          <p:cNvSpPr txBox="1"/>
          <p:nvPr/>
        </p:nvSpPr>
        <p:spPr>
          <a:xfrm>
            <a:off x="1871352" y="2179430"/>
            <a:ext cx="35317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u="sng" dirty="0">
                <a:latin typeface="Georgia Pro Light" panose="02040302050405020303" pitchFamily="18" charset="0"/>
              </a:rPr>
              <a:t>Demographics &amp; Socioeconomic: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Age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Education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Race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Sex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Income Level / Poverty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Georgia Pro Light" panose="02040302050405020303" pitchFamily="18" charset="0"/>
              </a:rPr>
              <a:t>etc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2DF3-0A48-4FAF-54BD-867F724D422A}"/>
              </a:ext>
            </a:extLst>
          </p:cNvPr>
          <p:cNvSpPr txBox="1"/>
          <p:nvPr/>
        </p:nvSpPr>
        <p:spPr>
          <a:xfrm>
            <a:off x="4172439" y="1533099"/>
            <a:ext cx="3848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i="1" dirty="0">
                <a:latin typeface="Georgia Pro Light" panose="02040302050405020303" pitchFamily="18" charset="0"/>
              </a:rPr>
              <a:t>There are total </a:t>
            </a:r>
            <a:r>
              <a:rPr lang="en-US" b="1" i="1" dirty="0">
                <a:latin typeface="Georgia Pro Semibold" panose="02040502050405020303" pitchFamily="18" charset="0"/>
              </a:rPr>
              <a:t>36</a:t>
            </a:r>
            <a:r>
              <a:rPr lang="en-US" b="1" i="1" dirty="0">
                <a:latin typeface="Georgia Pro Light" panose="02040302050405020303" pitchFamily="18" charset="0"/>
              </a:rPr>
              <a:t> features </a:t>
            </a:r>
          </a:p>
          <a:p>
            <a:r>
              <a:rPr lang="en-US" b="1" i="1" dirty="0">
                <a:latin typeface="Georgia Pro Light" panose="02040302050405020303" pitchFamily="18" charset="0"/>
              </a:rPr>
              <a:t>[  </a:t>
            </a:r>
            <a:r>
              <a:rPr lang="en-US" b="1" i="1" dirty="0">
                <a:latin typeface="Georgia Pro Semibold" panose="02040502050405020303" pitchFamily="18" charset="0"/>
              </a:rPr>
              <a:t>12</a:t>
            </a:r>
            <a:r>
              <a:rPr lang="en-US" b="1" i="1" dirty="0">
                <a:latin typeface="Georgia Pro Light" panose="02040302050405020303" pitchFamily="18" charset="0"/>
              </a:rPr>
              <a:t> categorical, </a:t>
            </a:r>
            <a:r>
              <a:rPr lang="en-US" b="1" i="1" dirty="0">
                <a:latin typeface="Georgia Pro Semibold" panose="02040502050405020303" pitchFamily="18" charset="0"/>
              </a:rPr>
              <a:t>24</a:t>
            </a:r>
            <a:r>
              <a:rPr lang="en-US" b="1" i="1" dirty="0">
                <a:latin typeface="Georgia Pro Light" panose="02040302050405020303" pitchFamily="18" charset="0"/>
              </a:rPr>
              <a:t> numerical]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4A4E3-BBE7-3146-461F-3871F1705654}"/>
              </a:ext>
            </a:extLst>
          </p:cNvPr>
          <p:cNvSpPr txBox="1"/>
          <p:nvPr/>
        </p:nvSpPr>
        <p:spPr>
          <a:xfrm>
            <a:off x="6788913" y="2179430"/>
            <a:ext cx="41617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Health &amp; Medical Access: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Has Chronic Medical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Child Under 6 Months in Household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Health Care Worker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Has Health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Doctor Recommended Flu Vaccine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Georgia Pro Light" panose="02040302050405020303" pitchFamily="18" charset="0"/>
              </a:rPr>
              <a:t>etc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BB6DE-CB6D-1644-BEED-8BB442D45DF8}"/>
              </a:ext>
            </a:extLst>
          </p:cNvPr>
          <p:cNvSpPr txBox="1"/>
          <p:nvPr/>
        </p:nvSpPr>
        <p:spPr>
          <a:xfrm>
            <a:off x="4572338" y="4210755"/>
            <a:ext cx="30473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latin typeface="Georgia Pro Light" panose="02040302050405020303" pitchFamily="18" charset="0"/>
              </a:rPr>
              <a:t>Behavioral Indicators: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Used Antiviral Medication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Avoided Contact with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Wore Face Mask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Washed Hands Frequently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4AEDF0-A643-DDE6-676B-96224C063022}"/>
              </a:ext>
            </a:extLst>
          </p:cNvPr>
          <p:cNvSpPr/>
          <p:nvPr/>
        </p:nvSpPr>
        <p:spPr>
          <a:xfrm>
            <a:off x="1871352" y="2751119"/>
            <a:ext cx="1939997" cy="30547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31BBB-E0A8-788A-5077-F3EA0C5B1C60}"/>
              </a:ext>
            </a:extLst>
          </p:cNvPr>
          <p:cNvSpPr/>
          <p:nvPr/>
        </p:nvSpPr>
        <p:spPr>
          <a:xfrm>
            <a:off x="4726492" y="5324901"/>
            <a:ext cx="1939997" cy="30547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2DAA30-9578-62F0-7FF2-BA7A0792808D}"/>
              </a:ext>
            </a:extLst>
          </p:cNvPr>
          <p:cNvSpPr/>
          <p:nvPr/>
        </p:nvSpPr>
        <p:spPr>
          <a:xfrm>
            <a:off x="7094764" y="3039224"/>
            <a:ext cx="2114549" cy="30547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The Impact of COVID-19 on Healthcare Service Worker Safety">
            <a:extLst>
              <a:ext uri="{FF2B5EF4-FFF2-40B4-BE49-F238E27FC236}">
                <a16:creationId xmlns:a16="http://schemas.microsoft.com/office/drawing/2014/main" id="{FB9F37F6-F512-C7DF-8833-EC9DB8486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300" y="4133640"/>
            <a:ext cx="3687270" cy="203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lleges seek more male students - Community College Daily">
            <a:extLst>
              <a:ext uri="{FF2B5EF4-FFF2-40B4-BE49-F238E27FC236}">
                <a16:creationId xmlns:a16="http://schemas.microsoft.com/office/drawing/2014/main" id="{DA9C9CAB-C1A1-70BB-D0CE-7D9BBC603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248" y="4239817"/>
            <a:ext cx="3067575" cy="172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4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2" grpId="0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ACB84D-8720-5060-5AE4-4EB789A42723}"/>
              </a:ext>
            </a:extLst>
          </p:cNvPr>
          <p:cNvSpPr txBox="1"/>
          <p:nvPr/>
        </p:nvSpPr>
        <p:spPr>
          <a:xfrm>
            <a:off x="1272542" y="1516706"/>
            <a:ext cx="41086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Classification Methods: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No Initial inclination towards a particular classification method.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Feature space suggests it could be better represented through a Tree based Classification.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Multicollinearity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Better handling of categorical data.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0DA8B-D768-5DB0-C6D3-A4CCE43A9B49}"/>
              </a:ext>
            </a:extLst>
          </p:cNvPr>
          <p:cNvSpPr txBox="1"/>
          <p:nvPr/>
        </p:nvSpPr>
        <p:spPr>
          <a:xfrm>
            <a:off x="2969778" y="4194361"/>
            <a:ext cx="41086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Data Wrangling / Feature Selection: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Removed column with &gt;10000 NA’s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Removed data points after with NA’s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Feature selection with </a:t>
            </a:r>
            <a:r>
              <a:rPr lang="en-US" dirty="0" err="1">
                <a:latin typeface="Georgia Pro Light" panose="02040302050405020303" pitchFamily="18" charset="0"/>
              </a:rPr>
              <a:t>Kbest</a:t>
            </a:r>
            <a:r>
              <a:rPr lang="en-US" dirty="0">
                <a:latin typeface="Georgia Pro Light" panose="02040302050405020303" pitchFamily="18" charset="0"/>
              </a:rPr>
              <a:t> (26)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Automated selection for optimal K feature (27) for </a:t>
            </a:r>
            <a:r>
              <a:rPr lang="en-US" dirty="0" err="1">
                <a:latin typeface="Georgia Pro Light" panose="02040302050405020303" pitchFamily="18" charset="0"/>
              </a:rPr>
              <a:t>KBest</a:t>
            </a:r>
            <a:endParaRPr lang="en-US" dirty="0">
              <a:latin typeface="Georgia Pro Light" panose="02040302050405020303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5D922-52AA-CEE2-5B82-4F8B2C2EB4EA}"/>
              </a:ext>
            </a:extLst>
          </p:cNvPr>
          <p:cNvSpPr txBox="1"/>
          <p:nvPr/>
        </p:nvSpPr>
        <p:spPr>
          <a:xfrm>
            <a:off x="657363" y="778043"/>
            <a:ext cx="3694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First Thoughts: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98B719D-BE23-55AE-6D79-1CE5ACEEBF51}"/>
              </a:ext>
            </a:extLst>
          </p:cNvPr>
          <p:cNvSpPr/>
          <p:nvPr/>
        </p:nvSpPr>
        <p:spPr>
          <a:xfrm>
            <a:off x="7078439" y="4620552"/>
            <a:ext cx="978408" cy="484632"/>
          </a:xfrm>
          <a:prstGeom prst="rightArrow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-7065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7E983-5E07-8681-8EAD-061F4D098400}"/>
              </a:ext>
            </a:extLst>
          </p:cNvPr>
          <p:cNvSpPr txBox="1"/>
          <p:nvPr/>
        </p:nvSpPr>
        <p:spPr>
          <a:xfrm>
            <a:off x="8393459" y="4666718"/>
            <a:ext cx="2334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Georgia Pro Semibold" panose="02040502050405020303" pitchFamily="18" charset="0"/>
              </a:rPr>
              <a:t>Data points: </a:t>
            </a:r>
            <a:r>
              <a:rPr lang="en-US" dirty="0">
                <a:effectLst/>
                <a:latin typeface="Georgia Pro Light" panose="02040302050405020303" pitchFamily="18" charset="0"/>
              </a:rPr>
              <a:t>19642</a:t>
            </a:r>
          </a:p>
          <a:p>
            <a:r>
              <a:rPr lang="en-US" b="1" dirty="0">
                <a:latin typeface="Georgia Pro Semibold" panose="02040502050405020303" pitchFamily="18" charset="0"/>
              </a:rPr>
              <a:t>Features: </a:t>
            </a:r>
            <a:r>
              <a:rPr lang="en-US" b="1" dirty="0">
                <a:effectLst/>
                <a:latin typeface="Georgia Pro Semibold" panose="02040502050405020303" pitchFamily="18" charset="0"/>
              </a:rPr>
              <a:t> </a:t>
            </a:r>
            <a:r>
              <a:rPr lang="en-US" dirty="0">
                <a:effectLst/>
                <a:latin typeface="Georgia Pro Light" panose="02040302050405020303" pitchFamily="18" charset="0"/>
              </a:rPr>
              <a:t>3</a:t>
            </a:r>
            <a:r>
              <a:rPr lang="en-US" dirty="0">
                <a:latin typeface="Georgia Pro Light" panose="02040302050405020303" pitchFamily="18" charset="0"/>
              </a:rPr>
              <a:t>4</a:t>
            </a:r>
            <a:endParaRPr lang="en-US" b="1" dirty="0">
              <a:effectLst/>
              <a:latin typeface="Georgia Pro Semibold" panose="02040502050405020303" pitchFamily="18" charset="0"/>
            </a:endParaRPr>
          </a:p>
        </p:txBody>
      </p:sp>
      <p:pic>
        <p:nvPicPr>
          <p:cNvPr id="1026" name="Picture 2" descr="Tree-Based Models for Classification in Python | GeeksforGeeks">
            <a:extLst>
              <a:ext uri="{FF2B5EF4-FFF2-40B4-BE49-F238E27FC236}">
                <a16:creationId xmlns:a16="http://schemas.microsoft.com/office/drawing/2014/main" id="{3A53D8E5-7E97-3422-0E09-97609012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076" y="1101208"/>
            <a:ext cx="5113561" cy="240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9BDC1-15E5-9F1D-E932-E857B81D19FA}"/>
              </a:ext>
            </a:extLst>
          </p:cNvPr>
          <p:cNvSpPr txBox="1"/>
          <p:nvPr/>
        </p:nvSpPr>
        <p:spPr>
          <a:xfrm>
            <a:off x="10531928" y="3509509"/>
            <a:ext cx="1143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*Geek for Geeks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81558-FB81-1A7E-DD77-5BBE4AC9F7D0}"/>
              </a:ext>
            </a:extLst>
          </p:cNvPr>
          <p:cNvSpPr/>
          <p:nvPr/>
        </p:nvSpPr>
        <p:spPr>
          <a:xfrm>
            <a:off x="6702880" y="1697504"/>
            <a:ext cx="1575706" cy="30160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135DC-96F9-9AB3-2618-26E1BA7A6108}"/>
              </a:ext>
            </a:extLst>
          </p:cNvPr>
          <p:cNvSpPr/>
          <p:nvPr/>
        </p:nvSpPr>
        <p:spPr>
          <a:xfrm>
            <a:off x="6906986" y="2253024"/>
            <a:ext cx="1281793" cy="346249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0196BF-8AD8-BFF0-DB29-C347FC6CD518}"/>
              </a:ext>
            </a:extLst>
          </p:cNvPr>
          <p:cNvSpPr/>
          <p:nvPr/>
        </p:nvSpPr>
        <p:spPr>
          <a:xfrm>
            <a:off x="9735193" y="1697504"/>
            <a:ext cx="1286593" cy="363046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7" grpId="0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EA044-656C-EA31-38A2-453FF7FE6A22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Model Performance: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860EE-75D2-DEEC-A971-4B3644256E25}"/>
              </a:ext>
            </a:extLst>
          </p:cNvPr>
          <p:cNvSpPr txBox="1"/>
          <p:nvPr/>
        </p:nvSpPr>
        <p:spPr>
          <a:xfrm>
            <a:off x="445061" y="1689885"/>
            <a:ext cx="59636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u="sng" dirty="0">
                <a:latin typeface="Georgia Pro Light" panose="02040302050405020303" pitchFamily="18" charset="0"/>
              </a:rPr>
              <a:t>Initial Testing: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Tested Models: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Logistic Regression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SVM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Random Forest Classifier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Gradient Boosting Classifier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Histogram Gradient Boosting Classifier (HGBC)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Multilayer Perceptron (MLP) classifier</a:t>
            </a:r>
          </a:p>
          <a:p>
            <a:pPr lvl="1"/>
            <a:r>
              <a:rPr lang="en-US" dirty="0">
                <a:latin typeface="Georgia Pro Light" panose="02040302050405020303" pitchFamily="18" charset="0"/>
              </a:rPr>
              <a:t>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AA8481-4A86-0889-DAB2-A448002D6CBA}"/>
              </a:ext>
            </a:extLst>
          </p:cNvPr>
          <p:cNvSpPr/>
          <p:nvPr/>
        </p:nvSpPr>
        <p:spPr>
          <a:xfrm>
            <a:off x="1229990" y="3358195"/>
            <a:ext cx="5033246" cy="30547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49A635E-1A50-ADA4-91CF-C5C83198C3A1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 flipH="1" flipV="1">
            <a:off x="4828040" y="2090237"/>
            <a:ext cx="1529812" cy="10061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A7636C-7139-41F9-7026-1CF459F41787}"/>
              </a:ext>
            </a:extLst>
          </p:cNvPr>
          <p:cNvSpPr txBox="1"/>
          <p:nvPr/>
        </p:nvSpPr>
        <p:spPr>
          <a:xfrm>
            <a:off x="6096000" y="1228220"/>
            <a:ext cx="31357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Best performing: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Cross validation accuracy: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Max Training: 82.12%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Max Testing: 79.41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BB0BD6-9F7A-BE8D-28F0-567353A42EE7}"/>
              </a:ext>
            </a:extLst>
          </p:cNvPr>
          <p:cNvGrpSpPr/>
          <p:nvPr/>
        </p:nvGrpSpPr>
        <p:grpSpPr>
          <a:xfrm>
            <a:off x="9484463" y="1286009"/>
            <a:ext cx="2008884" cy="542376"/>
            <a:chOff x="9484467" y="1286009"/>
            <a:chExt cx="2286514" cy="597360"/>
          </a:xfrm>
        </p:grpSpPr>
        <p:sp>
          <p:nvSpPr>
            <p:cNvPr id="18" name="Rectangular Callout 17">
              <a:extLst>
                <a:ext uri="{FF2B5EF4-FFF2-40B4-BE49-F238E27FC236}">
                  <a16:creationId xmlns:a16="http://schemas.microsoft.com/office/drawing/2014/main" id="{1E46C1B7-94E0-BE8C-6D00-A7281BC25828}"/>
                </a:ext>
              </a:extLst>
            </p:cNvPr>
            <p:cNvSpPr/>
            <p:nvPr/>
          </p:nvSpPr>
          <p:spPr>
            <a:xfrm>
              <a:off x="9484467" y="1286009"/>
              <a:ext cx="2204565" cy="597360"/>
            </a:xfrm>
            <a:prstGeom prst="wedgeRectCallout">
              <a:avLst>
                <a:gd name="adj1" fmla="val -76191"/>
                <a:gd name="adj2" fmla="val 53677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96B292-8596-DF10-B24D-6440D978BACD}"/>
                </a:ext>
              </a:extLst>
            </p:cNvPr>
            <p:cNvSpPr txBox="1"/>
            <p:nvPr/>
          </p:nvSpPr>
          <p:spPr>
            <a:xfrm>
              <a:off x="9484468" y="1430301"/>
              <a:ext cx="2286513" cy="40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Slight Overfitting 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A870ED0-79BD-1704-C83F-CDA8C6E19172}"/>
              </a:ext>
            </a:extLst>
          </p:cNvPr>
          <p:cNvSpPr txBox="1"/>
          <p:nvPr/>
        </p:nvSpPr>
        <p:spPr>
          <a:xfrm>
            <a:off x="445061" y="3900818"/>
            <a:ext cx="58181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Hyperparameter Optimization: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Used ”</a:t>
            </a:r>
            <a:r>
              <a:rPr lang="en-US" i="1" dirty="0" err="1">
                <a:latin typeface="Georgia Pro Light" panose="02040302050405020303" pitchFamily="18" charset="0"/>
              </a:rPr>
              <a:t>HalvingRandomizedCV</a:t>
            </a:r>
            <a:r>
              <a:rPr lang="en-US" dirty="0">
                <a:latin typeface="Georgia Pro Light" panose="02040302050405020303" pitchFamily="18" charset="0"/>
              </a:rPr>
              <a:t>” for initial testing during cross-validation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Used for the “</a:t>
            </a:r>
            <a:r>
              <a:rPr lang="en-US" i="1" dirty="0" err="1">
                <a:latin typeface="Georgia Pro Light" panose="02040302050405020303" pitchFamily="18" charset="0"/>
              </a:rPr>
              <a:t>RandomizedCV</a:t>
            </a:r>
            <a:r>
              <a:rPr lang="en-US" i="1" dirty="0">
                <a:latin typeface="Georgia Pro Light" panose="02040302050405020303" pitchFamily="18" charset="0"/>
              </a:rPr>
              <a:t>”</a:t>
            </a:r>
            <a:r>
              <a:rPr lang="en-US" dirty="0">
                <a:latin typeface="Georgia Pro Light" panose="02040302050405020303" pitchFamily="18" charset="0"/>
              </a:rPr>
              <a:t> for the best model afterwards for the testing fit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Still HGBC the best performing after automated </a:t>
            </a:r>
            <a:r>
              <a:rPr lang="en-US" dirty="0" err="1">
                <a:latin typeface="Georgia Pro Light" panose="02040302050405020303" pitchFamily="18" charset="0"/>
              </a:rPr>
              <a:t>Kbest</a:t>
            </a:r>
            <a:r>
              <a:rPr lang="en-US" dirty="0">
                <a:latin typeface="Georgia Pro Light" panose="02040302050405020303" pitchFamily="18" charset="0"/>
              </a:rPr>
              <a:t> testing (27 features)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Final Training: </a:t>
            </a:r>
            <a:r>
              <a:rPr lang="en-US" dirty="0"/>
              <a:t>79.93%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Final Testing: </a:t>
            </a:r>
            <a:r>
              <a:rPr lang="en-US" dirty="0"/>
              <a:t>78.70%</a:t>
            </a:r>
            <a:endParaRPr lang="en-US" dirty="0">
              <a:latin typeface="Georgia Pro Light" panose="02040302050405020303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Georgia Pro Light" panose="02040302050405020303" pitchFamily="18" charset="0"/>
            </a:endParaRP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6C52104-0327-1EBE-1F99-6F77563B6172}"/>
              </a:ext>
            </a:extLst>
          </p:cNvPr>
          <p:cNvCxnSpPr>
            <a:cxnSpLocks/>
          </p:cNvCxnSpPr>
          <p:nvPr/>
        </p:nvCxnSpPr>
        <p:spPr>
          <a:xfrm flipV="1">
            <a:off x="5510676" y="2917896"/>
            <a:ext cx="2702740" cy="1997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1FBC031-79E1-FC8E-5EB2-E6A14183FBFA}"/>
              </a:ext>
            </a:extLst>
          </p:cNvPr>
          <p:cNvSpPr txBox="1"/>
          <p:nvPr/>
        </p:nvSpPr>
        <p:spPr>
          <a:xfrm>
            <a:off x="8391441" y="2428549"/>
            <a:ext cx="3101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Georgia Pro Light" panose="02040302050405020303" pitchFamily="18" charset="0"/>
              </a:rPr>
              <a:t>RandomizedCV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Georgia Pro Light" panose="02040302050405020303" pitchFamily="18" charset="0"/>
              </a:rPr>
              <a:t>Utilizes Entropy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Georgia Pro Light" panose="02040302050405020303" pitchFamily="18" charset="0"/>
              </a:rPr>
              <a:t>Tests values for Hyperparameter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Georgia Pro Light" panose="02040302050405020303" pitchFamily="18" charset="0"/>
              </a:rPr>
              <a:t>Gives the best model parameter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Georgia Pro Light" panose="02040302050405020303" pitchFamily="18" charset="0"/>
              </a:rPr>
              <a:t>Testing was done with 1000 iterations 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477DF78B-24A6-2437-89C0-CBD24A910F85}"/>
              </a:ext>
            </a:extLst>
          </p:cNvPr>
          <p:cNvCxnSpPr>
            <a:cxnSpLocks/>
          </p:cNvCxnSpPr>
          <p:nvPr/>
        </p:nvCxnSpPr>
        <p:spPr>
          <a:xfrm>
            <a:off x="5510676" y="4380467"/>
            <a:ext cx="2816028" cy="1200329"/>
          </a:xfrm>
          <a:prstGeom prst="bentConnector3">
            <a:avLst>
              <a:gd name="adj1" fmla="val 477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00E21EF-FC41-57E0-1FF2-470736B21DF5}"/>
              </a:ext>
            </a:extLst>
          </p:cNvPr>
          <p:cNvSpPr txBox="1"/>
          <p:nvPr/>
        </p:nvSpPr>
        <p:spPr>
          <a:xfrm>
            <a:off x="8391441" y="5067838"/>
            <a:ext cx="31582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Georgia Pro Light" panose="02040302050405020303" pitchFamily="18" charset="0"/>
              </a:rPr>
              <a:t>HalvingRandomizedCV</a:t>
            </a:r>
            <a:r>
              <a:rPr lang="en-US" dirty="0">
                <a:latin typeface="Georgia Pro Light" panose="02040302050405020303" pitchFamily="18" charset="0"/>
              </a:rPr>
              <a:t>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err="1">
                <a:latin typeface="Georgia Pro Light" panose="02040302050405020303" pitchFamily="18" charset="0"/>
              </a:rPr>
              <a:t>RandomizedCV</a:t>
            </a:r>
            <a:r>
              <a:rPr lang="en-US" dirty="0">
                <a:latin typeface="Georgia Pro Light" panose="02040302050405020303" pitchFamily="18" charset="0"/>
              </a:rPr>
              <a:t> but iterates</a:t>
            </a:r>
          </a:p>
          <a:p>
            <a:r>
              <a:rPr lang="en-US" dirty="0">
                <a:latin typeface="Georgia Pro Light" panose="02040302050405020303" pitchFamily="18" charset="0"/>
              </a:rPr>
              <a:t>Over only the top half of the </a:t>
            </a:r>
          </a:p>
          <a:p>
            <a:r>
              <a:rPr lang="en-US" dirty="0">
                <a:latin typeface="Georgia Pro Light" panose="02040302050405020303" pitchFamily="18" charset="0"/>
              </a:rPr>
              <a:t>Performing model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155EA-6D07-4970-7D45-D47730660F4B}"/>
              </a:ext>
            </a:extLst>
          </p:cNvPr>
          <p:cNvSpPr/>
          <p:nvPr/>
        </p:nvSpPr>
        <p:spPr>
          <a:xfrm>
            <a:off x="1598952" y="6137538"/>
            <a:ext cx="2571750" cy="2612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4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3" grpId="0"/>
      <p:bldP spid="23" grpId="0"/>
      <p:bldP spid="39" grpId="0"/>
      <p:bldP spid="47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F0EC07-387F-D8D8-6E87-0040A5C58D0B}"/>
              </a:ext>
            </a:extLst>
          </p:cNvPr>
          <p:cNvSpPr txBox="1"/>
          <p:nvPr/>
        </p:nvSpPr>
        <p:spPr>
          <a:xfrm>
            <a:off x="436075" y="2023274"/>
            <a:ext cx="40815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latin typeface="Georgia Pro" panose="02040502050405020303" pitchFamily="18" charset="0"/>
              </a:rPr>
              <a:t>Demographics &amp; Socioeconomic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Age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Education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Race/Ethnicity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Sex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Income to Poverty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Marital Status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886AA-F6FE-5CC1-15A3-ACCB11673BA7}"/>
              </a:ext>
            </a:extLst>
          </p:cNvPr>
          <p:cNvSpPr txBox="1"/>
          <p:nvPr/>
        </p:nvSpPr>
        <p:spPr>
          <a:xfrm>
            <a:off x="1869851" y="4331598"/>
            <a:ext cx="41997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latin typeface="Georgia Pro" panose="02040502050405020303" pitchFamily="18" charset="0"/>
              </a:rPr>
              <a:t>Medical &amp; Health-Related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Chronic Medical Condition (Yes/No)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Healthcare Worker (Yes/No)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Doctor Recommended H1N1 Vaccine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Doctor Recommended Seasonal Flu Vaccine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FCC25-8C43-6A45-8EA0-7AA53DEE252C}"/>
              </a:ext>
            </a:extLst>
          </p:cNvPr>
          <p:cNvSpPr txBox="1"/>
          <p:nvPr/>
        </p:nvSpPr>
        <p:spPr>
          <a:xfrm>
            <a:off x="4517668" y="2023274"/>
            <a:ext cx="31039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Georgia Pro" panose="02040502050405020303" pitchFamily="18" charset="0"/>
              </a:rPr>
              <a:t>Behavioral Measures: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Avoided Crowds or Social Contact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Used a Face Mask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Washed Hands Frequently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Avoided Large Gatherings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Stayed Mostly at Home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Avoided Touching 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9E68F-DE28-1A26-FFC1-E7DE4B0465CA}"/>
              </a:ext>
            </a:extLst>
          </p:cNvPr>
          <p:cNvSpPr txBox="1"/>
          <p:nvPr/>
        </p:nvSpPr>
        <p:spPr>
          <a:xfrm>
            <a:off x="235639" y="1018006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The Selected Features (27):</a:t>
            </a:r>
          </a:p>
        </p:txBody>
      </p:sp>
      <p:sp>
        <p:nvSpPr>
          <p:cNvPr id="2" name="AutoShape 4" descr="Tier Ranking Template | Creately">
            <a:extLst>
              <a:ext uri="{FF2B5EF4-FFF2-40B4-BE49-F238E27FC236}">
                <a16:creationId xmlns:a16="http://schemas.microsoft.com/office/drawing/2014/main" id="{C4097C2F-2425-9327-0B17-EF729502F7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63F1D-A51B-59B6-0684-6F6C0510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157" y="1344880"/>
            <a:ext cx="4876800" cy="4171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C87799-BF7E-A2EA-D8FE-D55CE2868787}"/>
              </a:ext>
            </a:extLst>
          </p:cNvPr>
          <p:cNvSpPr txBox="1"/>
          <p:nvPr/>
        </p:nvSpPr>
        <p:spPr>
          <a:xfrm>
            <a:off x="8825593" y="1341171"/>
            <a:ext cx="343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OrdinalEncoder+SelectKBest</a:t>
            </a:r>
            <a:r>
              <a:rPr lang="en-US" dirty="0">
                <a:latin typeface="Georgia Pro Light" panose="02040302050405020303" pitchFamily="18" charset="0"/>
              </a:rPr>
              <a:t> + HGBC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C8D0D-A1A3-66FD-A677-BC95932A4B18}"/>
              </a:ext>
            </a:extLst>
          </p:cNvPr>
          <p:cNvSpPr txBox="1"/>
          <p:nvPr/>
        </p:nvSpPr>
        <p:spPr>
          <a:xfrm>
            <a:off x="8825592" y="2659485"/>
            <a:ext cx="32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OrdinalEncoder+PCA</a:t>
            </a:r>
            <a:r>
              <a:rPr lang="en-US" dirty="0">
                <a:latin typeface="Georgia Pro Light" panose="02040302050405020303" pitchFamily="18" charset="0"/>
              </a:rPr>
              <a:t> + HGBC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3D60FC-61CE-D26D-6422-6E8BA5AF01BE}"/>
              </a:ext>
            </a:extLst>
          </p:cNvPr>
          <p:cNvSpPr txBox="1"/>
          <p:nvPr/>
        </p:nvSpPr>
        <p:spPr>
          <a:xfrm>
            <a:off x="8825592" y="1936137"/>
            <a:ext cx="343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OrdinalEncoder+SelectKBest</a:t>
            </a:r>
            <a:r>
              <a:rPr lang="en-US" dirty="0">
                <a:latin typeface="Georgia Pro Light" panose="02040302050405020303" pitchFamily="18" charset="0"/>
              </a:rPr>
              <a:t> + LR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2E797-CF61-478F-C0F2-A7840E5FBE79}"/>
              </a:ext>
            </a:extLst>
          </p:cNvPr>
          <p:cNvSpPr txBox="1"/>
          <p:nvPr/>
        </p:nvSpPr>
        <p:spPr>
          <a:xfrm>
            <a:off x="8728300" y="3131517"/>
            <a:ext cx="343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OneHotEncoding+SelectKBest</a:t>
            </a:r>
            <a:r>
              <a:rPr lang="en-US" dirty="0">
                <a:latin typeface="Georgia Pro Light" panose="02040302050405020303" pitchFamily="18" charset="0"/>
              </a:rPr>
              <a:t> + HGBC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E2FEE0-B692-A913-E0D5-1CBCA031FB89}"/>
              </a:ext>
            </a:extLst>
          </p:cNvPr>
          <p:cNvSpPr txBox="1"/>
          <p:nvPr/>
        </p:nvSpPr>
        <p:spPr>
          <a:xfrm>
            <a:off x="8755192" y="3726483"/>
            <a:ext cx="343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One Hot encoding+ PCA + HGBC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182AA3-EEF8-C161-1467-3635945433CC}"/>
              </a:ext>
            </a:extLst>
          </p:cNvPr>
          <p:cNvSpPr txBox="1"/>
          <p:nvPr/>
        </p:nvSpPr>
        <p:spPr>
          <a:xfrm>
            <a:off x="8728300" y="4446122"/>
            <a:ext cx="32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OneHotEncoding+PCA</a:t>
            </a:r>
            <a:r>
              <a:rPr lang="en-US" dirty="0">
                <a:latin typeface="Georgia Pro Light" panose="02040302050405020303" pitchFamily="18" charset="0"/>
              </a:rPr>
              <a:t> + LR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D1D62A-7C0B-FDA8-27EB-1372FCE36ECC}"/>
              </a:ext>
            </a:extLst>
          </p:cNvPr>
          <p:cNvSpPr txBox="1"/>
          <p:nvPr/>
        </p:nvSpPr>
        <p:spPr>
          <a:xfrm>
            <a:off x="8755192" y="4999485"/>
            <a:ext cx="33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 Pro Light" panose="02040302050405020303" pitchFamily="18" charset="0"/>
              </a:rPr>
              <a:t>OneHotEncoding+PCA</a:t>
            </a:r>
            <a:r>
              <a:rPr lang="en-US" dirty="0">
                <a:latin typeface="Georgia Pro Light" panose="02040302050405020303" pitchFamily="18" charset="0"/>
              </a:rPr>
              <a:t> + SVM</a:t>
            </a:r>
          </a:p>
        </p:txBody>
      </p:sp>
    </p:spTree>
    <p:extLst>
      <p:ext uri="{BB962C8B-B14F-4D97-AF65-F5344CB8AC3E}">
        <p14:creationId xmlns:p14="http://schemas.microsoft.com/office/powerpoint/2010/main" val="375428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6" grpId="0"/>
      <p:bldP spid="13" grpId="0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82339-0A93-3F38-142A-0FCBC72AFFFF}"/>
              </a:ext>
            </a:extLst>
          </p:cNvPr>
          <p:cNvSpPr txBox="1"/>
          <p:nvPr/>
        </p:nvSpPr>
        <p:spPr>
          <a:xfrm>
            <a:off x="492173" y="2411011"/>
            <a:ext cx="152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Train: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D2D2A-BF3A-3D59-4169-ED6E7C6B1D55}"/>
              </a:ext>
            </a:extLst>
          </p:cNvPr>
          <p:cNvSpPr txBox="1"/>
          <p:nvPr/>
        </p:nvSpPr>
        <p:spPr>
          <a:xfrm>
            <a:off x="1295972" y="693682"/>
            <a:ext cx="390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Extra Analysis: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0C1E98-2CE5-CFC0-9A8C-0B54E324E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63115"/>
              </p:ext>
            </p:extLst>
          </p:nvPr>
        </p:nvGraphicFramePr>
        <p:xfrm>
          <a:off x="492173" y="2808027"/>
          <a:ext cx="3834255" cy="1005840"/>
        </p:xfrm>
        <a:graphic>
          <a:graphicData uri="http://schemas.openxmlformats.org/drawingml/2006/table">
            <a:tbl>
              <a:tblPr/>
              <a:tblGrid>
                <a:gridCol w="1278085">
                  <a:extLst>
                    <a:ext uri="{9D8B030D-6E8A-4147-A177-3AD203B41FA5}">
                      <a16:colId xmlns:a16="http://schemas.microsoft.com/office/drawing/2014/main" val="1925987707"/>
                    </a:ext>
                  </a:extLst>
                </a:gridCol>
                <a:gridCol w="1278085">
                  <a:extLst>
                    <a:ext uri="{9D8B030D-6E8A-4147-A177-3AD203B41FA5}">
                      <a16:colId xmlns:a16="http://schemas.microsoft.com/office/drawing/2014/main" val="3750481944"/>
                    </a:ext>
                  </a:extLst>
                </a:gridCol>
                <a:gridCol w="1278085">
                  <a:extLst>
                    <a:ext uri="{9D8B030D-6E8A-4147-A177-3AD203B41FA5}">
                      <a16:colId xmlns:a16="http://schemas.microsoft.com/office/drawing/2014/main" val="269761929"/>
                    </a:ext>
                  </a:extLst>
                </a:gridCol>
              </a:tblGrid>
              <a:tr h="1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Actual \ Predicted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Predicted: 0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Predicted: 1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430578"/>
                  </a:ext>
                </a:extLst>
              </a:tr>
              <a:tr h="1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Actual: 0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552268"/>
                  </a:ext>
                </a:extLst>
              </a:tr>
              <a:tr h="1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Actual: 1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1623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5887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060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8FB650-2E7E-201F-DEFB-5A03D201E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208807"/>
              </p:ext>
            </p:extLst>
          </p:nvPr>
        </p:nvGraphicFramePr>
        <p:xfrm>
          <a:off x="5059136" y="2780343"/>
          <a:ext cx="3834252" cy="1061208"/>
        </p:xfrm>
        <a:graphic>
          <a:graphicData uri="http://schemas.openxmlformats.org/drawingml/2006/table">
            <a:tbl>
              <a:tblPr/>
              <a:tblGrid>
                <a:gridCol w="1278084">
                  <a:extLst>
                    <a:ext uri="{9D8B030D-6E8A-4147-A177-3AD203B41FA5}">
                      <a16:colId xmlns:a16="http://schemas.microsoft.com/office/drawing/2014/main" val="3777178922"/>
                    </a:ext>
                  </a:extLst>
                </a:gridCol>
                <a:gridCol w="1278084">
                  <a:extLst>
                    <a:ext uri="{9D8B030D-6E8A-4147-A177-3AD203B41FA5}">
                      <a16:colId xmlns:a16="http://schemas.microsoft.com/office/drawing/2014/main" val="2316707078"/>
                    </a:ext>
                  </a:extLst>
                </a:gridCol>
                <a:gridCol w="1278084">
                  <a:extLst>
                    <a:ext uri="{9D8B030D-6E8A-4147-A177-3AD203B41FA5}">
                      <a16:colId xmlns:a16="http://schemas.microsoft.com/office/drawing/2014/main" val="2360295564"/>
                    </a:ext>
                  </a:extLst>
                </a:gridCol>
              </a:tblGrid>
              <a:tr h="302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\ Predicted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Predicted: 0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Predicted: 1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14314"/>
                  </a:ext>
                </a:extLst>
              </a:tr>
              <a:tr h="302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Actual: 0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879944"/>
                  </a:ext>
                </a:extLst>
              </a:tr>
              <a:tr h="302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Actual: 1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1447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79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F5E529-6ABA-B6E1-5A69-75EA0CE46A36}"/>
              </a:ext>
            </a:extLst>
          </p:cNvPr>
          <p:cNvSpPr txBox="1"/>
          <p:nvPr/>
        </p:nvSpPr>
        <p:spPr>
          <a:xfrm>
            <a:off x="492173" y="4248357"/>
            <a:ext cx="4276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Georgia Pro Semibold" panose="02040502050405020303" pitchFamily="18" charset="0"/>
              </a:rPr>
              <a:t>Shifted to prefer less false Positives:</a:t>
            </a:r>
          </a:p>
          <a:p>
            <a:endParaRPr lang="en-US" b="1" i="1" dirty="0">
              <a:latin typeface="Georgia Pro Semibold" panose="02040502050405020303" pitchFamily="18" charset="0"/>
            </a:endParaRPr>
          </a:p>
          <a:p>
            <a:pPr algn="ctr"/>
            <a:r>
              <a:rPr lang="en-US" dirty="0">
                <a:latin typeface="Georgia Pro Light" panose="02040302050405020303" pitchFamily="18" charset="0"/>
              </a:rPr>
              <a:t>Manually Changed Weights for the class </a:t>
            </a:r>
          </a:p>
          <a:p>
            <a:pPr algn="ctr"/>
            <a:r>
              <a:rPr lang="en-US" dirty="0">
                <a:latin typeface="Georgia Pro Light" panose="02040302050405020303" pitchFamily="18" charset="0"/>
              </a:rPr>
              <a:t>HGBC Classifier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6052E-0E36-32F7-B0B3-63040CDD3F58}"/>
              </a:ext>
            </a:extLst>
          </p:cNvPr>
          <p:cNvSpPr txBox="1"/>
          <p:nvPr/>
        </p:nvSpPr>
        <p:spPr>
          <a:xfrm>
            <a:off x="3009375" y="1742004"/>
            <a:ext cx="2787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 Pro Semibold" panose="02040502050405020303" pitchFamily="18" charset="0"/>
              </a:rPr>
              <a:t>Confusion Matrix (27):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A7FA09-5BB0-FC4C-F4A3-115C4986039E}"/>
              </a:ext>
            </a:extLst>
          </p:cNvPr>
          <p:cNvSpPr txBox="1"/>
          <p:nvPr/>
        </p:nvSpPr>
        <p:spPr>
          <a:xfrm>
            <a:off x="5059136" y="2411011"/>
            <a:ext cx="152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Testing: </a:t>
            </a:r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73F3111A-7F89-81D7-34FF-5B9D8BBB8768}"/>
              </a:ext>
            </a:extLst>
          </p:cNvPr>
          <p:cNvSpPr/>
          <p:nvPr/>
        </p:nvSpPr>
        <p:spPr>
          <a:xfrm>
            <a:off x="179614" y="4257465"/>
            <a:ext cx="312559" cy="2530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41223B13-3B6E-FDC0-C29B-F7D2EF6F73D5}"/>
              </a:ext>
            </a:extLst>
          </p:cNvPr>
          <p:cNvSpPr/>
          <p:nvPr/>
        </p:nvSpPr>
        <p:spPr>
          <a:xfrm>
            <a:off x="6584414" y="3902528"/>
            <a:ext cx="249094" cy="3549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ECFCD-9C71-2257-497F-100C7EA0D2A3}"/>
              </a:ext>
            </a:extLst>
          </p:cNvPr>
          <p:cNvSpPr/>
          <p:nvPr/>
        </p:nvSpPr>
        <p:spPr>
          <a:xfrm>
            <a:off x="7507737" y="3304603"/>
            <a:ext cx="661307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AFF3C1-7669-71B6-4A2B-A31E58AB5BBB}"/>
              </a:ext>
            </a:extLst>
          </p:cNvPr>
          <p:cNvSpPr/>
          <p:nvPr/>
        </p:nvSpPr>
        <p:spPr>
          <a:xfrm>
            <a:off x="7507737" y="4928596"/>
            <a:ext cx="661307" cy="21602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ction Button: Information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737D8A5-C068-2AAA-6FD9-FB23A2F67B2B}"/>
              </a:ext>
            </a:extLst>
          </p:cNvPr>
          <p:cNvSpPr/>
          <p:nvPr/>
        </p:nvSpPr>
        <p:spPr>
          <a:xfrm>
            <a:off x="9038525" y="2376605"/>
            <a:ext cx="579664" cy="542460"/>
          </a:xfrm>
          <a:prstGeom prst="actionButtonInformat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4CBAB7-D8F2-B27D-C018-FFCE28A8D6E4}"/>
              </a:ext>
            </a:extLst>
          </p:cNvPr>
          <p:cNvSpPr txBox="1"/>
          <p:nvPr/>
        </p:nvSpPr>
        <p:spPr>
          <a:xfrm>
            <a:off x="10363647" y="4825428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74.55%</a:t>
            </a: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D6E280-89EC-D7B6-5029-BE6BA876E631}"/>
              </a:ext>
            </a:extLst>
          </p:cNvPr>
          <p:cNvSpPr txBox="1"/>
          <p:nvPr/>
        </p:nvSpPr>
        <p:spPr>
          <a:xfrm>
            <a:off x="9406662" y="2324669"/>
            <a:ext cx="2665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eorgia Pro Light" panose="02040302050405020303" pitchFamily="18" charset="0"/>
              </a:rPr>
              <a:t>Testing Accuracy</a:t>
            </a:r>
          </a:p>
          <a:p>
            <a:pPr algn="ctr"/>
            <a:r>
              <a:rPr lang="en-US" dirty="0">
                <a:latin typeface="Georgia Pro Light" panose="02040302050405020303" pitchFamily="18" charset="0"/>
              </a:rPr>
              <a:t>Dropped from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220FC-0240-03FB-8896-9A761EB81CC5}"/>
              </a:ext>
            </a:extLst>
          </p:cNvPr>
          <p:cNvSpPr txBox="1"/>
          <p:nvPr/>
        </p:nvSpPr>
        <p:spPr>
          <a:xfrm>
            <a:off x="9419231" y="3227949"/>
            <a:ext cx="1970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78.70%</a:t>
            </a:r>
            <a:endParaRPr lang="en-US" dirty="0">
              <a:latin typeface="Georgia Pro Light" panose="02040302050405020303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EB09FD-4468-CC7E-26DB-16D5A70DEFBE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826274" y="3597281"/>
            <a:ext cx="0" cy="12281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F7D6F41-9386-DEF6-5CAD-9D90C2E8C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52219"/>
              </p:ext>
            </p:extLst>
          </p:nvPr>
        </p:nvGraphicFramePr>
        <p:xfrm>
          <a:off x="5059136" y="4414219"/>
          <a:ext cx="3834249" cy="1089520"/>
        </p:xfrm>
        <a:graphic>
          <a:graphicData uri="http://schemas.openxmlformats.org/drawingml/2006/table">
            <a:tbl>
              <a:tblPr/>
              <a:tblGrid>
                <a:gridCol w="1278083">
                  <a:extLst>
                    <a:ext uri="{9D8B030D-6E8A-4147-A177-3AD203B41FA5}">
                      <a16:colId xmlns:a16="http://schemas.microsoft.com/office/drawing/2014/main" val="3870886402"/>
                    </a:ext>
                  </a:extLst>
                </a:gridCol>
                <a:gridCol w="1278083">
                  <a:extLst>
                    <a:ext uri="{9D8B030D-6E8A-4147-A177-3AD203B41FA5}">
                      <a16:colId xmlns:a16="http://schemas.microsoft.com/office/drawing/2014/main" val="3604538088"/>
                    </a:ext>
                  </a:extLst>
                </a:gridCol>
                <a:gridCol w="1278083">
                  <a:extLst>
                    <a:ext uri="{9D8B030D-6E8A-4147-A177-3AD203B41FA5}">
                      <a16:colId xmlns:a16="http://schemas.microsoft.com/office/drawing/2014/main" val="2279640628"/>
                    </a:ext>
                  </a:extLst>
                </a:gridCol>
              </a:tblGrid>
              <a:tr h="316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\ Predicted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Predicted: 0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Predicted: 1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49482"/>
                  </a:ext>
                </a:extLst>
              </a:tr>
              <a:tr h="316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Actual: 0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1813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263462"/>
                  </a:ext>
                </a:extLst>
              </a:tr>
              <a:tr h="316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Actual: 1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746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1132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2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94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6" grpId="0" animBg="1"/>
      <p:bldP spid="17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EF975-D4BF-B6D1-E0E7-5E857EB07CB5}"/>
              </a:ext>
            </a:extLst>
          </p:cNvPr>
          <p:cNvSpPr txBox="1"/>
          <p:nvPr/>
        </p:nvSpPr>
        <p:spPr>
          <a:xfrm>
            <a:off x="1984066" y="2040009"/>
            <a:ext cx="4011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Georgia Pro Light" panose="02040302050405020303" pitchFamily="18" charset="0"/>
              </a:rPr>
              <a:t>Thank You!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B81C82-BCF3-A784-B9CB-E4E060A2473D}"/>
              </a:ext>
            </a:extLst>
          </p:cNvPr>
          <p:cNvSpPr txBox="1"/>
          <p:nvPr/>
        </p:nvSpPr>
        <p:spPr>
          <a:xfrm>
            <a:off x="4580653" y="2885524"/>
            <a:ext cx="4134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Questions Welcome</a:t>
            </a:r>
          </a:p>
        </p:txBody>
      </p:sp>
    </p:spTree>
    <p:extLst>
      <p:ext uri="{BB962C8B-B14F-4D97-AF65-F5344CB8AC3E}">
        <p14:creationId xmlns:p14="http://schemas.microsoft.com/office/powerpoint/2010/main" val="304943291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038193A0E7743A7E6756519A9432C" ma:contentTypeVersion="13" ma:contentTypeDescription="Create a new document." ma:contentTypeScope="" ma:versionID="3975a2d664472fb2236e7b60641ecd30">
  <xsd:schema xmlns:xsd="http://www.w3.org/2001/XMLSchema" xmlns:xs="http://www.w3.org/2001/XMLSchema" xmlns:p="http://schemas.microsoft.com/office/2006/metadata/properties" xmlns:ns3="bfe25847-919c-4471-818e-09145312356a" xmlns:ns4="12a373dc-8182-4a1d-ad22-6e3ae98ad41e" targetNamespace="http://schemas.microsoft.com/office/2006/metadata/properties" ma:root="true" ma:fieldsID="5a59e4943714f13fa6dfb0d3d8d56fe9" ns3:_="" ns4:_="">
    <xsd:import namespace="bfe25847-919c-4471-818e-09145312356a"/>
    <xsd:import namespace="12a373dc-8182-4a1d-ad22-6e3ae98ad4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5847-919c-4471-818e-0914531235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373dc-8182-4a1d-ad22-6e3ae98a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e25847-919c-4471-818e-09145312356a" xsi:nil="true"/>
  </documentManagement>
</p:properties>
</file>

<file path=customXml/itemProps1.xml><?xml version="1.0" encoding="utf-8"?>
<ds:datastoreItem xmlns:ds="http://schemas.openxmlformats.org/officeDocument/2006/customXml" ds:itemID="{98E0F659-2B5A-42A3-B8E0-894C2AE502FD}">
  <ds:schemaRefs>
    <ds:schemaRef ds:uri="12a373dc-8182-4a1d-ad22-6e3ae98ad41e"/>
    <ds:schemaRef ds:uri="bfe25847-919c-4471-818e-0914531235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0475313-4C5B-4851-8036-BD170F9EE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502982-A8C0-423A-BC29-B33B97F57539}">
  <ds:schemaRefs>
    <ds:schemaRef ds:uri="12a373dc-8182-4a1d-ad22-6e3ae98ad41e"/>
    <ds:schemaRef ds:uri="bfe25847-919c-4471-818e-09145312356a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9497</TotalTime>
  <Words>720</Words>
  <Application>Microsoft Office PowerPoint</Application>
  <PresentationFormat>Widescreen</PresentationFormat>
  <Paragraphs>164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Georgia</vt:lpstr>
      <vt:lpstr>Georgia Pro</vt:lpstr>
      <vt:lpstr>Georgia Pro Cond Light</vt:lpstr>
      <vt:lpstr>Georgia Pro Light</vt:lpstr>
      <vt:lpstr>Georgia Pro Semibold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Divyansh, .</dc:creator>
  <cp:lastModifiedBy>Divyansh Nolastname (Student)</cp:lastModifiedBy>
  <cp:revision>3</cp:revision>
  <dcterms:created xsi:type="dcterms:W3CDTF">2025-04-30T19:02:43Z</dcterms:created>
  <dcterms:modified xsi:type="dcterms:W3CDTF">2025-11-28T18:17:43Z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0x010100368038193A0E7743A7E6756519A9432C</vt:lpwstr>
  </property>
</Properties>
</file>